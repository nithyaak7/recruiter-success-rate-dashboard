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72" r:id="rId3"/>
    <p:sldId id="258" r:id="rId4"/>
    <p:sldId id="273" r:id="rId5"/>
    <p:sldId id="259" r:id="rId6"/>
    <p:sldId id="26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FD091F-E24A-4AAA-AD85-B82CE55D0CE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714F8F-D9A2-443A-B578-B5BC3B05ECF5}">
      <dgm:prSet/>
      <dgm:spPr/>
      <dgm:t>
        <a:bodyPr/>
        <a:lstStyle/>
        <a:p>
          <a:r>
            <a:rPr lang="en-US" b="1" dirty="0"/>
            <a:t>Talent Acquisition Management System</a:t>
          </a:r>
          <a:endParaRPr lang="en-US" dirty="0"/>
        </a:p>
      </dgm:t>
    </dgm:pt>
    <dgm:pt modelId="{21421688-620A-477F-BEC8-1AE11CE70557}" type="parTrans" cxnId="{6EC097B0-1D2D-47E6-A7E5-AF1CB9CFF553}">
      <dgm:prSet/>
      <dgm:spPr/>
      <dgm:t>
        <a:bodyPr/>
        <a:lstStyle/>
        <a:p>
          <a:endParaRPr lang="en-US"/>
        </a:p>
      </dgm:t>
    </dgm:pt>
    <dgm:pt modelId="{170EE247-A91C-4484-AEB9-C682B211835D}" type="sibTrans" cxnId="{6EC097B0-1D2D-47E6-A7E5-AF1CB9CFF553}">
      <dgm:prSet/>
      <dgm:spPr/>
      <dgm:t>
        <a:bodyPr/>
        <a:lstStyle/>
        <a:p>
          <a:endParaRPr lang="en-US"/>
        </a:p>
      </dgm:t>
    </dgm:pt>
    <dgm:pt modelId="{B834D4B3-A60C-46D4-BC07-3B84048BEEA9}">
      <dgm:prSet/>
      <dgm:spPr/>
      <dgm:t>
        <a:bodyPr/>
        <a:lstStyle/>
        <a:p>
          <a:r>
            <a:rPr lang="en-US"/>
            <a:t>Database Design &amp; Implementation</a:t>
          </a:r>
        </a:p>
      </dgm:t>
    </dgm:pt>
    <dgm:pt modelId="{A7898ADB-8614-45C0-8672-69E8E50CBDA2}" type="parTrans" cxnId="{BF508049-8EB4-438B-BD3E-D32A362E8E4C}">
      <dgm:prSet/>
      <dgm:spPr/>
      <dgm:t>
        <a:bodyPr/>
        <a:lstStyle/>
        <a:p>
          <a:endParaRPr lang="en-US"/>
        </a:p>
      </dgm:t>
    </dgm:pt>
    <dgm:pt modelId="{762511C4-193B-42AE-83A8-E99DEDD17867}" type="sibTrans" cxnId="{BF508049-8EB4-438B-BD3E-D32A362E8E4C}">
      <dgm:prSet/>
      <dgm:spPr/>
      <dgm:t>
        <a:bodyPr/>
        <a:lstStyle/>
        <a:p>
          <a:endParaRPr lang="en-US"/>
        </a:p>
      </dgm:t>
    </dgm:pt>
    <dgm:pt modelId="{3DF09C78-248F-4AE0-9112-94BDDEBFA60F}">
      <dgm:prSet custT="1"/>
      <dgm:spPr/>
      <dgm:t>
        <a:bodyPr/>
        <a:lstStyle/>
        <a:p>
          <a:r>
            <a:rPr lang="en-US" sz="2000" u="sng" dirty="0"/>
            <a:t>DADS6700 20504 Data Management for Analytics SEC 01 Fall 2025</a:t>
          </a:r>
          <a:endParaRPr lang="en-US" sz="2000" dirty="0"/>
        </a:p>
      </dgm:t>
    </dgm:pt>
    <dgm:pt modelId="{A98A9D67-3E23-4E46-95EB-62614D34A323}" type="parTrans" cxnId="{FDF8CE3A-A477-4633-9373-0361F55BC2B7}">
      <dgm:prSet/>
      <dgm:spPr/>
      <dgm:t>
        <a:bodyPr/>
        <a:lstStyle/>
        <a:p>
          <a:endParaRPr lang="en-US"/>
        </a:p>
      </dgm:t>
    </dgm:pt>
    <dgm:pt modelId="{181D89E6-0FFD-4D50-ADE0-AFBD1C36CBE4}" type="sibTrans" cxnId="{FDF8CE3A-A477-4633-9373-0361F55BC2B7}">
      <dgm:prSet/>
      <dgm:spPr/>
      <dgm:t>
        <a:bodyPr/>
        <a:lstStyle/>
        <a:p>
          <a:endParaRPr lang="en-US"/>
        </a:p>
      </dgm:t>
    </dgm:pt>
    <dgm:pt modelId="{3882F7CA-E286-4D0A-8BFB-A792D497CD60}">
      <dgm:prSet custT="1"/>
      <dgm:spPr/>
      <dgm:t>
        <a:bodyPr/>
        <a:lstStyle/>
        <a:p>
          <a:r>
            <a:rPr lang="en-US" sz="2000" dirty="0"/>
            <a:t>Nithyaa Kesavamurthy (NUID: 002024548)</a:t>
          </a:r>
        </a:p>
      </dgm:t>
    </dgm:pt>
    <dgm:pt modelId="{022957D7-6AA4-49E8-B791-A1D276938373}" type="parTrans" cxnId="{20F2C099-C945-47FF-B54E-281D59717D8E}">
      <dgm:prSet/>
      <dgm:spPr/>
      <dgm:t>
        <a:bodyPr/>
        <a:lstStyle/>
        <a:p>
          <a:endParaRPr lang="en-US"/>
        </a:p>
      </dgm:t>
    </dgm:pt>
    <dgm:pt modelId="{248D9B9F-C189-4E66-84A9-3503D4B6C262}" type="sibTrans" cxnId="{20F2C099-C945-47FF-B54E-281D59717D8E}">
      <dgm:prSet/>
      <dgm:spPr/>
      <dgm:t>
        <a:bodyPr/>
        <a:lstStyle/>
        <a:p>
          <a:endParaRPr lang="en-US"/>
        </a:p>
      </dgm:t>
    </dgm:pt>
    <dgm:pt modelId="{E94A4310-7F68-47B4-9207-53ECC3102574}" type="pres">
      <dgm:prSet presAssocID="{C4FD091F-E24A-4AAA-AD85-B82CE55D0CEA}" presName="linear" presStyleCnt="0">
        <dgm:presLayoutVars>
          <dgm:animLvl val="lvl"/>
          <dgm:resizeHandles val="exact"/>
        </dgm:presLayoutVars>
      </dgm:prSet>
      <dgm:spPr/>
    </dgm:pt>
    <dgm:pt modelId="{8BD54800-6118-4C5F-8F3A-A660A57112B3}" type="pres">
      <dgm:prSet presAssocID="{B4714F8F-D9A2-443A-B578-B5BC3B05EC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6CC537-A0C3-48B1-9F95-FCF0DABB84E2}" type="pres">
      <dgm:prSet presAssocID="{170EE247-A91C-4484-AEB9-C682B211835D}" presName="spacer" presStyleCnt="0"/>
      <dgm:spPr/>
    </dgm:pt>
    <dgm:pt modelId="{0081BE2D-6186-4B6F-9448-563A384D29A9}" type="pres">
      <dgm:prSet presAssocID="{B834D4B3-A60C-46D4-BC07-3B84048BEE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AADB85-DD2B-4670-BEBC-5DA0B3CBE45D}" type="pres">
      <dgm:prSet presAssocID="{762511C4-193B-42AE-83A8-E99DEDD17867}" presName="spacer" presStyleCnt="0"/>
      <dgm:spPr/>
    </dgm:pt>
    <dgm:pt modelId="{A1F740A9-65BB-4F65-A9B0-0CD6C58FDDAE}" type="pres">
      <dgm:prSet presAssocID="{3DF09C78-248F-4AE0-9112-94BDDEBFA6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5ABBA2-01E6-44FF-B225-5DF29E78BD84}" type="pres">
      <dgm:prSet presAssocID="{181D89E6-0FFD-4D50-ADE0-AFBD1C36CBE4}" presName="spacer" presStyleCnt="0"/>
      <dgm:spPr/>
    </dgm:pt>
    <dgm:pt modelId="{75E520A8-C7DE-4EC8-8C5D-07F1E09EA7ED}" type="pres">
      <dgm:prSet presAssocID="{3882F7CA-E286-4D0A-8BFB-A792D497CD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A53A23-08B1-4819-816B-FFE4221B607A}" type="presOf" srcId="{3DF09C78-248F-4AE0-9112-94BDDEBFA60F}" destId="{A1F740A9-65BB-4F65-A9B0-0CD6C58FDDAE}" srcOrd="0" destOrd="0" presId="urn:microsoft.com/office/officeart/2005/8/layout/vList2"/>
    <dgm:cxn modelId="{C5254D2E-89A9-4229-9463-FDB494F83314}" type="presOf" srcId="{B4714F8F-D9A2-443A-B578-B5BC3B05ECF5}" destId="{8BD54800-6118-4C5F-8F3A-A660A57112B3}" srcOrd="0" destOrd="0" presId="urn:microsoft.com/office/officeart/2005/8/layout/vList2"/>
    <dgm:cxn modelId="{FDF8CE3A-A477-4633-9373-0361F55BC2B7}" srcId="{C4FD091F-E24A-4AAA-AD85-B82CE55D0CEA}" destId="{3DF09C78-248F-4AE0-9112-94BDDEBFA60F}" srcOrd="2" destOrd="0" parTransId="{A98A9D67-3E23-4E46-95EB-62614D34A323}" sibTransId="{181D89E6-0FFD-4D50-ADE0-AFBD1C36CBE4}"/>
    <dgm:cxn modelId="{BF508049-8EB4-438B-BD3E-D32A362E8E4C}" srcId="{C4FD091F-E24A-4AAA-AD85-B82CE55D0CEA}" destId="{B834D4B3-A60C-46D4-BC07-3B84048BEEA9}" srcOrd="1" destOrd="0" parTransId="{A7898ADB-8614-45C0-8672-69E8E50CBDA2}" sibTransId="{762511C4-193B-42AE-83A8-E99DEDD17867}"/>
    <dgm:cxn modelId="{20F2C099-C945-47FF-B54E-281D59717D8E}" srcId="{C4FD091F-E24A-4AAA-AD85-B82CE55D0CEA}" destId="{3882F7CA-E286-4D0A-8BFB-A792D497CD60}" srcOrd="3" destOrd="0" parTransId="{022957D7-6AA4-49E8-B791-A1D276938373}" sibTransId="{248D9B9F-C189-4E66-84A9-3503D4B6C262}"/>
    <dgm:cxn modelId="{552763A8-1421-4885-A787-13B57FEAE681}" type="presOf" srcId="{C4FD091F-E24A-4AAA-AD85-B82CE55D0CEA}" destId="{E94A4310-7F68-47B4-9207-53ECC3102574}" srcOrd="0" destOrd="0" presId="urn:microsoft.com/office/officeart/2005/8/layout/vList2"/>
    <dgm:cxn modelId="{6EC097B0-1D2D-47E6-A7E5-AF1CB9CFF553}" srcId="{C4FD091F-E24A-4AAA-AD85-B82CE55D0CEA}" destId="{B4714F8F-D9A2-443A-B578-B5BC3B05ECF5}" srcOrd="0" destOrd="0" parTransId="{21421688-620A-477F-BEC8-1AE11CE70557}" sibTransId="{170EE247-A91C-4484-AEB9-C682B211835D}"/>
    <dgm:cxn modelId="{CAAA57B8-0585-43F4-96AD-C34CD25D88CE}" type="presOf" srcId="{3882F7CA-E286-4D0A-8BFB-A792D497CD60}" destId="{75E520A8-C7DE-4EC8-8C5D-07F1E09EA7ED}" srcOrd="0" destOrd="0" presId="urn:microsoft.com/office/officeart/2005/8/layout/vList2"/>
    <dgm:cxn modelId="{147112DE-2A3A-4EC9-84D9-8BD2A7755C6B}" type="presOf" srcId="{B834D4B3-A60C-46D4-BC07-3B84048BEEA9}" destId="{0081BE2D-6186-4B6F-9448-563A384D29A9}" srcOrd="0" destOrd="0" presId="urn:microsoft.com/office/officeart/2005/8/layout/vList2"/>
    <dgm:cxn modelId="{18443878-36A5-4229-BD46-A0DF0480B742}" type="presParOf" srcId="{E94A4310-7F68-47B4-9207-53ECC3102574}" destId="{8BD54800-6118-4C5F-8F3A-A660A57112B3}" srcOrd="0" destOrd="0" presId="urn:microsoft.com/office/officeart/2005/8/layout/vList2"/>
    <dgm:cxn modelId="{3A499110-B912-43DA-9DFD-71D2B999E5AB}" type="presParOf" srcId="{E94A4310-7F68-47B4-9207-53ECC3102574}" destId="{966CC537-A0C3-48B1-9F95-FCF0DABB84E2}" srcOrd="1" destOrd="0" presId="urn:microsoft.com/office/officeart/2005/8/layout/vList2"/>
    <dgm:cxn modelId="{5CC8A69B-D91D-45E3-8BBB-9F0ADFC257E1}" type="presParOf" srcId="{E94A4310-7F68-47B4-9207-53ECC3102574}" destId="{0081BE2D-6186-4B6F-9448-563A384D29A9}" srcOrd="2" destOrd="0" presId="urn:microsoft.com/office/officeart/2005/8/layout/vList2"/>
    <dgm:cxn modelId="{FD3E3FEA-B76B-4C27-A522-9472F400F148}" type="presParOf" srcId="{E94A4310-7F68-47B4-9207-53ECC3102574}" destId="{17AADB85-DD2B-4670-BEBC-5DA0B3CBE45D}" srcOrd="3" destOrd="0" presId="urn:microsoft.com/office/officeart/2005/8/layout/vList2"/>
    <dgm:cxn modelId="{E102AD15-0FF0-4DA1-8960-8E596158035B}" type="presParOf" srcId="{E94A4310-7F68-47B4-9207-53ECC3102574}" destId="{A1F740A9-65BB-4F65-A9B0-0CD6C58FDDAE}" srcOrd="4" destOrd="0" presId="urn:microsoft.com/office/officeart/2005/8/layout/vList2"/>
    <dgm:cxn modelId="{4F09AAF0-CA05-4916-92CA-A40C4C09A2C3}" type="presParOf" srcId="{E94A4310-7F68-47B4-9207-53ECC3102574}" destId="{2A5ABBA2-01E6-44FF-B225-5DF29E78BD84}" srcOrd="5" destOrd="0" presId="urn:microsoft.com/office/officeart/2005/8/layout/vList2"/>
    <dgm:cxn modelId="{6C85A633-A680-4785-B5BA-4392CA7417E4}" type="presParOf" srcId="{E94A4310-7F68-47B4-9207-53ECC3102574}" destId="{75E520A8-C7DE-4EC8-8C5D-07F1E09EA7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54800-6118-4C5F-8F3A-A660A57112B3}">
      <dsp:nvSpPr>
        <dsp:cNvPr id="0" name=""/>
        <dsp:cNvSpPr/>
      </dsp:nvSpPr>
      <dsp:spPr>
        <a:xfrm>
          <a:off x="0" y="56915"/>
          <a:ext cx="5098256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/>
            <a:t>Talent Acquisition Management System</a:t>
          </a:r>
          <a:endParaRPr lang="en-US" sz="3300" kern="1200" dirty="0"/>
        </a:p>
      </dsp:txBody>
      <dsp:txXfrm>
        <a:off x="64083" y="120998"/>
        <a:ext cx="4970090" cy="1184574"/>
      </dsp:txXfrm>
    </dsp:sp>
    <dsp:sp modelId="{0081BE2D-6186-4B6F-9448-563A384D29A9}">
      <dsp:nvSpPr>
        <dsp:cNvPr id="0" name=""/>
        <dsp:cNvSpPr/>
      </dsp:nvSpPr>
      <dsp:spPr>
        <a:xfrm>
          <a:off x="0" y="1464695"/>
          <a:ext cx="5098256" cy="1312740"/>
        </a:xfrm>
        <a:prstGeom prst="roundRect">
          <a:avLst/>
        </a:prstGeom>
        <a:solidFill>
          <a:schemeClr val="accent5">
            <a:hueOff val="709040"/>
            <a:satOff val="-7964"/>
            <a:lumOff val="-16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Database Design &amp; Implementation</a:t>
          </a:r>
        </a:p>
      </dsp:txBody>
      <dsp:txXfrm>
        <a:off x="64083" y="1528778"/>
        <a:ext cx="4970090" cy="1184574"/>
      </dsp:txXfrm>
    </dsp:sp>
    <dsp:sp modelId="{A1F740A9-65BB-4F65-A9B0-0CD6C58FDDAE}">
      <dsp:nvSpPr>
        <dsp:cNvPr id="0" name=""/>
        <dsp:cNvSpPr/>
      </dsp:nvSpPr>
      <dsp:spPr>
        <a:xfrm>
          <a:off x="0" y="2872476"/>
          <a:ext cx="5098256" cy="1312740"/>
        </a:xfrm>
        <a:prstGeom prst="roundRect">
          <a:avLst/>
        </a:prstGeom>
        <a:solidFill>
          <a:schemeClr val="accent5">
            <a:hueOff val="1418080"/>
            <a:satOff val="-15927"/>
            <a:lumOff val="-33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u="sng" kern="1200" dirty="0"/>
            <a:t>DADS6700 20504 Data Management for Analytics SEC 01 Fall 2025</a:t>
          </a:r>
          <a:endParaRPr lang="en-US" sz="2000" kern="1200" dirty="0"/>
        </a:p>
      </dsp:txBody>
      <dsp:txXfrm>
        <a:off x="64083" y="2936559"/>
        <a:ext cx="4970090" cy="1184574"/>
      </dsp:txXfrm>
    </dsp:sp>
    <dsp:sp modelId="{75E520A8-C7DE-4EC8-8C5D-07F1E09EA7ED}">
      <dsp:nvSpPr>
        <dsp:cNvPr id="0" name=""/>
        <dsp:cNvSpPr/>
      </dsp:nvSpPr>
      <dsp:spPr>
        <a:xfrm>
          <a:off x="0" y="4280256"/>
          <a:ext cx="5098256" cy="1312740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Nithyaa Kesavamurthy (NUID: 002024548)</a:t>
          </a:r>
        </a:p>
      </dsp:txBody>
      <dsp:txXfrm>
        <a:off x="64083" y="4344339"/>
        <a:ext cx="4970090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28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3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35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3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21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9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7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4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0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18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kWRXdXDN28WhctvekCk43qOnhF3Vizjf/view?usp=drive_lin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E817601-7052-280D-3636-F8B635A23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91900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857F-169D-6AD5-FE81-BF5D4190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C185-20C4-09E2-EF3D-759377A6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58844"/>
            <a:ext cx="7543800" cy="57851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Background</a:t>
            </a:r>
            <a:endParaRPr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14C03-8128-C895-3F37-0FD989BC2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Database design for the talent acquisition management system which manages recruitment workflows capturing, managing and tracking:</a:t>
            </a:r>
          </a:p>
          <a:p>
            <a:r>
              <a:rPr lang="en-US" dirty="0"/>
              <a:t>candidates </a:t>
            </a:r>
          </a:p>
          <a:p>
            <a:r>
              <a:rPr lang="en-US" dirty="0"/>
              <a:t>job requisitions </a:t>
            </a:r>
          </a:p>
          <a:p>
            <a:r>
              <a:rPr lang="en-US" dirty="0"/>
              <a:t>Interviews</a:t>
            </a:r>
          </a:p>
          <a:p>
            <a:r>
              <a:rPr lang="en-US" dirty="0"/>
              <a:t>Evaluations</a:t>
            </a:r>
          </a:p>
          <a:p>
            <a:r>
              <a:rPr lang="en-US" dirty="0"/>
              <a:t>Offers</a:t>
            </a:r>
          </a:p>
          <a:p>
            <a:r>
              <a:rPr lang="en-US" dirty="0"/>
              <a:t>Onboarding.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768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5057"/>
            <a:ext cx="7543800" cy="542304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Requirements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must:   </a:t>
            </a:r>
          </a:p>
          <a:p>
            <a:pPr marL="0" indent="0">
              <a:buNone/>
            </a:pPr>
            <a:r>
              <a:rPr dirty="0"/>
              <a:t>-</a:t>
            </a:r>
            <a:r>
              <a:rPr lang="en-US" dirty="0"/>
              <a:t> </a:t>
            </a:r>
            <a:r>
              <a:rPr dirty="0"/>
              <a:t>Manage candidates and sourcing</a:t>
            </a:r>
          </a:p>
          <a:p>
            <a:r>
              <a:rPr dirty="0"/>
              <a:t>- Track job requisitions</a:t>
            </a:r>
          </a:p>
          <a:p>
            <a:r>
              <a:rPr dirty="0"/>
              <a:t>- Record interviews &amp; evaluations</a:t>
            </a:r>
          </a:p>
          <a:p>
            <a:r>
              <a:rPr dirty="0"/>
              <a:t>- Manage offers and onboarding</a:t>
            </a:r>
          </a:p>
          <a:p>
            <a:r>
              <a:rPr dirty="0"/>
              <a:t>- Maintain lifecycle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57" name="Rectangle 6156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6FDC0-2798-6977-F1D1-55572EFA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2" y="639097"/>
            <a:ext cx="255147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Conceptual model ERDiagram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337D693-DEBF-EB35-77C0-706316B2E6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501" y="190125"/>
            <a:ext cx="5767331" cy="593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9" name="Straight Connector 6158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56978" y="4343400"/>
            <a:ext cx="24003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0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850119"/>
            <a:ext cx="7543800" cy="62378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ER Model – Entities and Relationships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9EC16E-193B-A74A-8C38-E05C395FA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192459"/>
              </p:ext>
            </p:extLst>
          </p:nvPr>
        </p:nvGraphicFramePr>
        <p:xfrm>
          <a:off x="822324" y="1846263"/>
          <a:ext cx="3487126" cy="32743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37665">
                  <a:extLst>
                    <a:ext uri="{9D8B030D-6E8A-4147-A177-3AD203B41FA5}">
                      <a16:colId xmlns:a16="http://schemas.microsoft.com/office/drawing/2014/main" val="407226118"/>
                    </a:ext>
                  </a:extLst>
                </a:gridCol>
                <a:gridCol w="2149461">
                  <a:extLst>
                    <a:ext uri="{9D8B030D-6E8A-4147-A177-3AD203B41FA5}">
                      <a16:colId xmlns:a16="http://schemas.microsoft.com/office/drawing/2014/main" val="2565296223"/>
                    </a:ext>
                  </a:extLst>
                </a:gridCol>
              </a:tblGrid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Supporting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054134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391005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 Requisition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Sourcing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532401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Recruiter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67626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Interview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552823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35104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Panel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28365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 Status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633329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82693"/>
                  </a:ext>
                </a:extLst>
              </a:tr>
              <a:tr h="32743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908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6D4B97-A5A7-9D99-1FE9-38DCA9BFE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788306"/>
              </p:ext>
            </p:extLst>
          </p:nvPr>
        </p:nvGraphicFramePr>
        <p:xfrm>
          <a:off x="4490518" y="1830923"/>
          <a:ext cx="4028792" cy="377428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28792">
                  <a:extLst>
                    <a:ext uri="{9D8B030D-6E8A-4147-A177-3AD203B41FA5}">
                      <a16:colId xmlns:a16="http://schemas.microsoft.com/office/drawing/2014/main" val="792550047"/>
                    </a:ext>
                  </a:extLst>
                </a:gridCol>
              </a:tblGrid>
              <a:tr h="3003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07518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Candidate to Job Requisition by Recruiter (1–M via Sourcing Activity)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694659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has 1-M Job Requisition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3673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Candidate to Interview (1-M)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486262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Recruiter to Candidate (1-M)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839638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Interview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has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Evaluations by Panel Members (1–M)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37791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Candidate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receives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Offers for Job Requisition (1–M)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510938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Offer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drives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Onboarding activities (1–M)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443864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Interview is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conducted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by Panel Members (M–N via Interview Panel)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159343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Job Requisition is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defined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SOW and managed by Account Manager (1–M)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47541"/>
                  </a:ext>
                </a:extLst>
              </a:tr>
              <a:tr h="300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Candidate </a:t>
                      </a: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completes 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External Tests (1–M)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7099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230" y="1317841"/>
            <a:ext cx="3429403" cy="66430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UML Class Diagram</a:t>
            </a:r>
          </a:p>
        </p:txBody>
      </p:sp>
      <p:pic>
        <p:nvPicPr>
          <p:cNvPr id="1026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08AAB41-EEE6-32A6-9C04-F9B1D2043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694" y="116525"/>
            <a:ext cx="5233709" cy="662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2085703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613" y="2198914"/>
            <a:ext cx="2767693" cy="3670180"/>
          </a:xfrm>
        </p:spPr>
        <p:txBody>
          <a:bodyPr>
            <a:normAutofit/>
          </a:bodyPr>
          <a:lstStyle/>
          <a:p>
            <a:r>
              <a:rPr lang="en-US"/>
              <a:t>Classes: Candidate, Recruiter, Job Requisition, Interview, Evaluation, Offer, Onboarding.</a:t>
            </a:r>
          </a:p>
          <a:p>
            <a:r>
              <a:rPr lang="en-US"/>
              <a:t>Associations: candidate-interview, job-interview, interview-evaluation.</a:t>
            </a:r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4FD67-86AE-751F-CF11-C5879E534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2" y="2716040"/>
            <a:ext cx="2657922" cy="16090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Relations, Primary Keys, and Foreign Keys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56978" y="4343400"/>
            <a:ext cx="24003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 descr="A black screen with white text">
            <a:extLst>
              <a:ext uri="{FF2B5EF4-FFF2-40B4-BE49-F238E27FC236}">
                <a16:creationId xmlns:a16="http://schemas.microsoft.com/office/drawing/2014/main" id="{B04CFC4C-7D1D-97FF-4619-C522BBC0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7" y="615636"/>
            <a:ext cx="4943192" cy="56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3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86416"/>
            <a:ext cx="7543800" cy="650945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74902"/>
          </a:xfrm>
        </p:spPr>
        <p:txBody>
          <a:bodyPr/>
          <a:lstStyle/>
          <a:p>
            <a:r>
              <a:rPr dirty="0"/>
              <a:t>All</a:t>
            </a:r>
            <a:r>
              <a:rPr lang="en-US" dirty="0"/>
              <a:t> the </a:t>
            </a:r>
            <a:r>
              <a:rPr dirty="0"/>
              <a:t>tables</a:t>
            </a:r>
            <a:r>
              <a:rPr lang="en-US" dirty="0"/>
              <a:t> are fully normalized, conforming to 1NF, 2NF, and 3NF.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 attributes are atomic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No partial or transitive dependencies.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208843-4C05-6E0D-C626-FC601478D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Conforms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1NF, 2NF, and 3NF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Query Validation and Demo Overview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3845131"/>
          </a:xfrm>
        </p:spPr>
        <p:txBody>
          <a:bodyPr>
            <a:normAutofit/>
          </a:bodyPr>
          <a:lstStyle/>
          <a:p>
            <a:r>
              <a:rPr lang="en-US"/>
              <a:t>Implemented the Logical Relational Model in MySQL and validated it through </a:t>
            </a:r>
            <a:r>
              <a:rPr lang="en-US" b="1"/>
              <a:t>progressively complex SQL queries</a:t>
            </a:r>
            <a:r>
              <a:rPr lang="en-US"/>
              <a:t>.</a:t>
            </a:r>
          </a:p>
          <a:p>
            <a:r>
              <a:rPr lang="en-US"/>
              <a:t>Queries demonstrate </a:t>
            </a:r>
            <a:r>
              <a:rPr lang="en-US" b="1"/>
              <a:t>relational integrity</a:t>
            </a:r>
            <a:r>
              <a:rPr lang="en-US"/>
              <a:t>, </a:t>
            </a:r>
            <a:r>
              <a:rPr lang="en-US" b="1"/>
              <a:t>advanced analytics</a:t>
            </a:r>
            <a:r>
              <a:rPr lang="en-US"/>
              <a:t>, and </a:t>
            </a:r>
            <a:r>
              <a:rPr lang="en-US" b="1"/>
              <a:t>business intelligence extraction</a:t>
            </a:r>
            <a:r>
              <a:rPr lang="en-US"/>
              <a:t>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Demo includes simple queries, joins, aggregates, nested, correlated, ALL/ANY, EXISTS, UNION, subqueries. The SQL Script can be found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Sample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3729" y="1845734"/>
            <a:ext cx="3603031" cy="4023360"/>
          </a:xfrm>
        </p:spPr>
        <p:txBody>
          <a:bodyPr>
            <a:normAutofit/>
          </a:bodyPr>
          <a:lstStyle/>
          <a:p>
            <a:r>
              <a:rPr lang="en-US" sz="1300" b="1"/>
              <a:t>≥ ALL (Query 5)</a:t>
            </a:r>
          </a:p>
          <a:p>
            <a:r>
              <a:rPr lang="en-US" sz="1300"/>
              <a:t>Identifies the </a:t>
            </a:r>
            <a:r>
              <a:rPr lang="en-US" sz="1300" b="1"/>
              <a:t>highest-scoring candidate(s)</a:t>
            </a:r>
            <a:r>
              <a:rPr lang="en-US" sz="1300"/>
              <a:t> across the entire database.</a:t>
            </a:r>
          </a:p>
          <a:p>
            <a:r>
              <a:rPr lang="en-US" sz="1300"/>
              <a:t>Uses &gt;= ALL (SELECT score FROM evaluation).</a:t>
            </a:r>
          </a:p>
          <a:p>
            <a:r>
              <a:rPr lang="en-US" sz="1300" b="1"/>
              <a:t>Insight:</a:t>
            </a:r>
            <a:r>
              <a:rPr lang="en-US" sz="1300"/>
              <a:t> Definitively finds top performers without separately computing MAX().</a:t>
            </a:r>
          </a:p>
          <a:p>
            <a:endParaRPr lang="en-US" sz="1300"/>
          </a:p>
          <a:p>
            <a:r>
              <a:rPr lang="en-US" sz="1300" b="1"/>
              <a:t>Nested Subquery (Query 2)</a:t>
            </a:r>
          </a:p>
          <a:p>
            <a:r>
              <a:rPr lang="en-US" sz="1300"/>
              <a:t>Compares each candidate’s </a:t>
            </a:r>
            <a:r>
              <a:rPr lang="en-US" sz="1300" b="1"/>
              <a:t>maximum score</a:t>
            </a:r>
            <a:r>
              <a:rPr lang="en-US" sz="1300"/>
              <a:t> to the </a:t>
            </a:r>
            <a:r>
              <a:rPr lang="en-US" sz="1300" b="1"/>
              <a:t>global average score</a:t>
            </a:r>
            <a:r>
              <a:rPr lang="en-US" sz="1300"/>
              <a:t>.</a:t>
            </a:r>
          </a:p>
          <a:p>
            <a:r>
              <a:rPr lang="en-US" sz="1300"/>
              <a:t>Uses a nested SELECT AVG(score) and HAVING filter.</a:t>
            </a:r>
          </a:p>
          <a:p>
            <a:r>
              <a:rPr lang="en-US" sz="1300" b="1"/>
              <a:t>Insight:</a:t>
            </a:r>
            <a:r>
              <a:rPr lang="en-US" sz="1300"/>
              <a:t> Quickly flags candidates performing above the overall benchmark.</a:t>
            </a:r>
          </a:p>
          <a:p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7523681-71FA-4A01-C68C-53E3D073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022" y="2014538"/>
            <a:ext cx="314325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6267917-C1FA-A3C0-7D70-0D65DF855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7" y="2806151"/>
            <a:ext cx="3048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NoSQL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MongoDB Querying &amp; NoSQL Flexibility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Uses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document-oriented 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instead of SQL joins, leveraging find() and aggregate() for efficient querying.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Showcases five key query patterns demonstrating filtering, sorting, and aggregation capabilities.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Collections: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candidate,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job_requisition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interview, offer, recruiter, client,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account_manager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evaluation,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external_test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interview_panel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onboarding,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panel_member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recruiter_assignment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sourcing_activity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NoSQL Queries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C4C223A-3A70-4633-F2F5-4DCB9420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7" r="28156" b="-3"/>
          <a:stretch>
            <a:fillRect/>
          </a:stretch>
        </p:blipFill>
        <p:spPr bwMode="auto">
          <a:xfrm>
            <a:off x="887262" y="1916318"/>
            <a:ext cx="1782044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6669151-0403-D59B-9AC2-563A5DA75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1" r="-7" b="26012"/>
          <a:stretch>
            <a:fillRect/>
          </a:stretch>
        </p:blipFill>
        <p:spPr bwMode="auto">
          <a:xfrm>
            <a:off x="2789956" y="1916318"/>
            <a:ext cx="1782043" cy="165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2CB5D29-6341-50D9-F6E3-CFF029768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54" r="6" b="13001"/>
          <a:stretch>
            <a:fillRect/>
          </a:stretch>
        </p:blipFill>
        <p:spPr bwMode="auto">
          <a:xfrm>
            <a:off x="2789956" y="3732259"/>
            <a:ext cx="1782043" cy="165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3729" y="1845733"/>
            <a:ext cx="3900437" cy="419292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Simple Filter + Projection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Running Query 1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Filters candidates with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experience &gt; 12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and projects only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name, email, experience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excluding _id.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Sorting Query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Running Query 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Retrieves all job requisitions and sorts them by </a:t>
            </a:r>
            <a:r>
              <a:rPr lang="en-US" altLang="en-US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updated_at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(descending)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to surface the most recently modified postings.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Condition-Based Retrieval (Date Filter)</a:t>
            </a:r>
            <a:endParaRPr lang="en-US" alt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Running Query 3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Filters the interview collection for interviews scheduled </a:t>
            </a:r>
            <a:r>
              <a:rPr lang="en-US" alt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on or after Sept 1, 2025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using $</a:t>
            </a:r>
            <a:r>
              <a:rPr lang="en-US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gte</a:t>
            </a:r>
            <a:r>
              <a:rPr lang="en-US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—useful for forecasting workloads.</a:t>
            </a:r>
          </a:p>
          <a:p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204111"/>
            <a:ext cx="7543800" cy="53324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Key MongoDB Queries (5 Examples)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25BD68A-6855-5C04-D3C8-9A1B67939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03" b="5"/>
          <a:stretch>
            <a:fillRect/>
          </a:stretch>
        </p:blipFill>
        <p:spPr bwMode="auto">
          <a:xfrm>
            <a:off x="887262" y="1916318"/>
            <a:ext cx="1782044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4C417F57-BE60-89C4-928B-07ECA9F5B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74" b="2"/>
          <a:stretch>
            <a:fillRect/>
          </a:stretch>
        </p:blipFill>
        <p:spPr bwMode="auto">
          <a:xfrm>
            <a:off x="2789956" y="1916318"/>
            <a:ext cx="1782043" cy="165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D2660BFE-963C-ECAC-87F9-68F2A45F8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5" r="35114" b="-5"/>
          <a:stretch>
            <a:fillRect/>
          </a:stretch>
        </p:blipFill>
        <p:spPr bwMode="auto">
          <a:xfrm>
            <a:off x="2789956" y="3732259"/>
            <a:ext cx="1782043" cy="165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67676F4F-A0EF-E33B-4274-AFD63000A1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63729" y="1845734"/>
            <a:ext cx="3603031" cy="4023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Aggregation: Group &amp; Count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Running Query 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Groups offer documents by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counts occurrences, then sorts to identify the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 common offer outcome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Aggregation: Min &amp; Max (Timeline Summary)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Running Query 5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Computes the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earliest and latest interview dates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$min and $max across all interviews—helpful for timeline analysis.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 Integration &amp; Analytical Validation</a:t>
            </a:r>
            <a:endParaRPr lang="en-US" dirty="0"/>
          </a:p>
          <a:p>
            <a:r>
              <a:rPr lang="en-US" b="1" dirty="0"/>
              <a:t>Programmatic Access:</a:t>
            </a:r>
            <a:r>
              <a:rPr lang="en-US" dirty="0"/>
              <a:t> Verified that the MySQL database can be seamlessly consumed using Python for analysis and visualization.</a:t>
            </a:r>
          </a:p>
          <a:p>
            <a:r>
              <a:rPr lang="en-US" b="1" dirty="0"/>
              <a:t>Data Retrieval Workflow:</a:t>
            </a:r>
            <a:r>
              <a:rPr lang="en-US" dirty="0"/>
              <a:t> Connected via </a:t>
            </a:r>
            <a:r>
              <a:rPr lang="en-US" dirty="0" err="1"/>
              <a:t>pymysql</a:t>
            </a:r>
            <a:r>
              <a:rPr lang="en-US" dirty="0"/>
              <a:t>, executed SQL queries with </a:t>
            </a:r>
            <a:r>
              <a:rPr lang="en-US" dirty="0" err="1"/>
              <a:t>pandas.read_sql</a:t>
            </a:r>
            <a:r>
              <a:rPr lang="en-US" dirty="0"/>
              <a:t>(), and loaded results directly into </a:t>
            </a:r>
            <a:r>
              <a:rPr lang="en-US" dirty="0" err="1"/>
              <a:t>DataFrames</a:t>
            </a:r>
            <a:r>
              <a:rPr lang="en-US" dirty="0"/>
              <a:t> for instant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Python Visualizations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3F0C62A-AA98-2721-157D-F741921FD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227"/>
          <a:stretch>
            <a:fillRect/>
          </a:stretch>
        </p:blipFill>
        <p:spPr bwMode="auto">
          <a:xfrm>
            <a:off x="887262" y="1916318"/>
            <a:ext cx="1782044" cy="165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DDE80B4-2924-C5A7-1BE7-842A3587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7" r="2362" b="1"/>
          <a:stretch>
            <a:fillRect/>
          </a:stretch>
        </p:blipFill>
        <p:spPr bwMode="auto">
          <a:xfrm>
            <a:off x="2789956" y="1916318"/>
            <a:ext cx="1782043" cy="165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39FFEC68-DAF5-1246-7F89-BF161144F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r="7726" b="-2"/>
          <a:stretch>
            <a:fillRect/>
          </a:stretch>
        </p:blipFill>
        <p:spPr bwMode="auto">
          <a:xfrm>
            <a:off x="887262" y="3750349"/>
            <a:ext cx="1782044" cy="165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0769AA2-64D1-54DA-C206-D3A1331568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7" r="11932" b="4"/>
          <a:stretch>
            <a:fillRect/>
          </a:stretch>
        </p:blipFill>
        <p:spPr bwMode="auto">
          <a:xfrm>
            <a:off x="2789956" y="3732259"/>
            <a:ext cx="1782043" cy="165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6BF74-4CDD-863E-8386-37A5B353EBDE}"/>
              </a:ext>
            </a:extLst>
          </p:cNvPr>
          <p:cNvSpPr txBox="1"/>
          <p:nvPr/>
        </p:nvSpPr>
        <p:spPr>
          <a:xfrm>
            <a:off x="4763729" y="1845734"/>
            <a:ext cx="3603031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Visualizations Generated (6 Total)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 Interviews per Job Title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Query 1 (Join + Aggregate)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Identifies funnel efficiency; “Software Engineer Level 1” shows the highest interview completions.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Distribution Across Pipeline Stages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Query 4 (CASE WHEN + Join)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Highlights stage-wise candidate volumes to detect bottlenecks.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High-Scoring Candidates (Recent Comparison)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Query 6 (&gt; ANY)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Flags candidates scoring better than any evaluated in the past week.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Recruiter Score Analysis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Query 9 (CTE)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Shows recruiter effectiveness; top performers include Harper Garcia &amp; Parker Iyer.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Score Distribution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Simple SELECT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Histogram reveals scoring patterns around 2.0 and 3.0–3.5.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 Status Distribution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Aggregate SELECT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Offers a critical metric—</a:t>
            </a: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 withdrawn</a:t>
            </a: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a major drop-off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95469"/>
            <a:ext cx="7543800" cy="641892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49719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Robust Conceptual Design: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Fully normalized 3NF data model with supporting EER &amp; UML diagrams.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Dual Technology Implementation: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Deployed in both MySQL (Relational) and MongoDB (NoSQL) for flexibility.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Advanced Analytics: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Executed complex SQL &amp; MongoDB queries (CTEs, aggregations) for business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Python Analytical App: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Visualized key metrics and insights to support decisions.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Business Impact: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Provides a scalable, efficient, and insight-driven recruitment optimization system.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1030</TotalTime>
  <Words>1001</Words>
  <Application>Microsoft Office PowerPoint</Application>
  <PresentationFormat>On-screen Show (4:3)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Retrospect</vt:lpstr>
      <vt:lpstr>PowerPoint Presentation</vt:lpstr>
      <vt:lpstr>Problem Background</vt:lpstr>
      <vt:lpstr>Requirements Summary</vt:lpstr>
      <vt:lpstr>Conceptual model ERDiagram</vt:lpstr>
      <vt:lpstr>ER Model – Entities and Relationships</vt:lpstr>
      <vt:lpstr>UML Class Diagram</vt:lpstr>
      <vt:lpstr>Relations, Primary Keys, and Foreign Keys</vt:lpstr>
      <vt:lpstr>Normalization</vt:lpstr>
      <vt:lpstr>MySQL Query Validation and Demo Overview</vt:lpstr>
      <vt:lpstr>Sample SQL Queries</vt:lpstr>
      <vt:lpstr>NoSQL Overview</vt:lpstr>
      <vt:lpstr>NoSQL Queries</vt:lpstr>
      <vt:lpstr>Key MongoDB Queries (5 Examples)</vt:lpstr>
      <vt:lpstr>Python App</vt:lpstr>
      <vt:lpstr>Python Visualizations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Nithyaa Kesavamurthy</cp:lastModifiedBy>
  <cp:revision>15</cp:revision>
  <dcterms:created xsi:type="dcterms:W3CDTF">2013-01-27T09:14:16Z</dcterms:created>
  <dcterms:modified xsi:type="dcterms:W3CDTF">2025-12-12T23:16:23Z</dcterms:modified>
  <cp:category/>
</cp:coreProperties>
</file>